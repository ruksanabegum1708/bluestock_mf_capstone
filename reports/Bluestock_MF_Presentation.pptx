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ME" initials="H" lastIdx="1" clrIdx="0">
    <p:extLst>
      <p:ext uri="{19B8F6BF-5375-455C-9EA6-DF929625EA0E}">
        <p15:presenceInfo xmlns:p15="http://schemas.microsoft.com/office/powerpoint/2012/main" userId="e5b6ded71d5f73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1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solidFill>
            <a:srgbClr val="00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Mutual Fund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00A3E0"/>
                </a:solidFill>
                <a:latin typeface="Calibri"/>
              </a:rPr>
              <a:t>End-to-End Data Engineering  |  ETL Pipeline  |  Interactive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971800"/>
            <a:ext cx="57607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Capstone Project  — 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Bluestock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Fintech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CADCFC"/>
                </a:solidFill>
                <a:latin typeface="Calibri"/>
              </a:rPr>
              <a:t>Presented by:  </a:t>
            </a:r>
            <a:r>
              <a:rPr b="0" i="0" dirty="0" err="1">
                <a:solidFill>
                  <a:srgbClr val="CADCFC"/>
                </a:solidFill>
                <a:latin typeface="Calibri"/>
              </a:rPr>
              <a:t>Ruksana</a:t>
            </a:r>
            <a:r>
              <a:rPr b="0" i="0" dirty="0">
                <a:solidFill>
                  <a:srgbClr val="CADCFC"/>
                </a:solidFill>
                <a:latin typeface="Calibri"/>
              </a:rPr>
              <a:t> Begum  |  Data Analyst Intern  |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206240"/>
            <a:ext cx="1828800" cy="1097280"/>
          </a:xfrm>
          <a:prstGeom prst="rect">
            <a:avLst/>
          </a:prstGeom>
          <a:solidFill>
            <a:srgbClr val="00184E"/>
          </a:solidFill>
          <a:ln w="1016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D70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00600"/>
            <a:ext cx="1737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ADCFC"/>
                </a:solidFill>
                <a:latin typeface="Calibri"/>
              </a:rPr>
              <a:t>Real Fund Schemes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4206240"/>
            <a:ext cx="1828800" cy="1097280"/>
          </a:xfrm>
          <a:prstGeom prst="rect">
            <a:avLst/>
          </a:prstGeom>
          <a:solidFill>
            <a:srgbClr val="00184E"/>
          </a:solidFill>
          <a:ln w="1016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4251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800600"/>
            <a:ext cx="1737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ADCFC"/>
                </a:solidFill>
                <a:latin typeface="Calibri"/>
              </a:rPr>
              <a:t>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206240"/>
            <a:ext cx="1828800" cy="1097280"/>
          </a:xfrm>
          <a:prstGeom prst="rect">
            <a:avLst/>
          </a:prstGeom>
          <a:solidFill>
            <a:srgbClr val="00184E"/>
          </a:solidFill>
          <a:ln w="1016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4251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Calibri"/>
              </a:rPr>
              <a:t>46K+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800600"/>
            <a:ext cx="1737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ADCFC"/>
                </a:solidFill>
                <a:latin typeface="Calibri"/>
              </a:rPr>
              <a:t>NAV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206240"/>
            <a:ext cx="1828800" cy="1097280"/>
          </a:xfrm>
          <a:prstGeom prst="rect">
            <a:avLst/>
          </a:prstGeom>
          <a:solidFill>
            <a:srgbClr val="00184E"/>
          </a:solidFill>
          <a:ln w="1016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4251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Calibri"/>
              </a:rPr>
              <a:t>32K+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800600"/>
            <a:ext cx="1737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ADCFC"/>
                </a:solidFill>
                <a:latin typeface="Calibri"/>
              </a:rPr>
              <a:t>Transactions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206240"/>
            <a:ext cx="1828800" cy="1097280"/>
          </a:xfrm>
          <a:prstGeom prst="rect">
            <a:avLst/>
          </a:prstGeom>
          <a:solidFill>
            <a:srgbClr val="00184E"/>
          </a:solidFill>
          <a:ln w="1016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4251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800600"/>
            <a:ext cx="1737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ADCFC"/>
                </a:solidFill>
                <a:latin typeface="Calibri"/>
              </a:rPr>
              <a:t>Days Built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6628060"/>
            <a:ext cx="12188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003087"/>
                </a:solidFill>
                <a:latin typeface="Calibri"/>
              </a:rPr>
              <a:t>github.com/Ruksanabegum1708/</a:t>
            </a:r>
            <a:r>
              <a:rPr sz="1200" b="0" i="0" dirty="0" err="1">
                <a:solidFill>
                  <a:srgbClr val="003087"/>
                </a:solidFill>
                <a:latin typeface="Calibri"/>
              </a:rPr>
              <a:t>bluestock_mf_capstone</a:t>
            </a:r>
            <a:endParaRPr sz="1200" b="0" i="0" dirty="0">
              <a:solidFill>
                <a:srgbClr val="00308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4123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Why India's mutual fund ecosystem needs a unified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377440" cy="5303520"/>
          </a:xfrm>
          <a:prstGeom prst="rect">
            <a:avLst/>
          </a:prstGeom>
          <a:solidFill>
            <a:srgbClr val="F8F9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A3E0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861" y="1234660"/>
            <a:ext cx="1724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3087"/>
                </a:solidFill>
                <a:latin typeface="Calibri"/>
              </a:rPr>
              <a:t>Data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626" y="1766777"/>
            <a:ext cx="21031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NAV, AUM, SIP data scattered
across AMFI, NSE, BSE in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different formats — no single
unified database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097280"/>
            <a:ext cx="2377440" cy="5303520"/>
          </a:xfrm>
          <a:prstGeom prst="rect">
            <a:avLst/>
          </a:prstGeom>
          <a:solidFill>
            <a:srgbClr val="F8F9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94610" y="11750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A3E0"/>
                </a:solidFill>
                <a:latin typeface="Calibri"/>
              </a:rP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59" y="1234660"/>
            <a:ext cx="16325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3087"/>
                </a:solidFill>
                <a:latin typeface="Calibri"/>
              </a:rPr>
              <a:t>Performance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4382" y="1766777"/>
            <a:ext cx="2103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Investors cannot compare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funds on risk-adjusted basis.
Sharpe, Alpha, Beta require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complex manual calculations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097280"/>
            <a:ext cx="2377440" cy="5303520"/>
          </a:xfrm>
          <a:prstGeom prst="rect">
            <a:avLst/>
          </a:prstGeom>
          <a:solidFill>
            <a:srgbClr val="F8F9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75004" y="12346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A3E0"/>
                </a:solidFill>
                <a:latin typeface="Calibri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4425" y="1178980"/>
            <a:ext cx="1600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3087"/>
                </a:solidFill>
                <a:latin typeface="Calibri"/>
              </a:rPr>
              <a:t>No Benchmark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2357" y="1814678"/>
            <a:ext cx="21031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Retail investors don't know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if their fund beats Nifty 50
or Nifty 100 </a:t>
            </a:r>
            <a:r>
              <a:rPr lang="en-IN" b="0" i="0" dirty="0">
                <a:solidFill>
                  <a:srgbClr val="2D2D2D"/>
                </a:solidFill>
                <a:latin typeface="Calibri"/>
              </a:rPr>
              <a:t>—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tracking error
requires both NAV + index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097280"/>
            <a:ext cx="2377440" cy="5303520"/>
          </a:xfrm>
          <a:prstGeom prst="rect">
            <a:avLst/>
          </a:prstGeom>
          <a:solidFill>
            <a:srgbClr val="F8F9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A3E0"/>
                </a:solidFill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2659" y="1225153"/>
            <a:ext cx="17411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3087"/>
                </a:solidFill>
                <a:latin typeface="Calibri"/>
              </a:rPr>
              <a:t>Investor Blind Spot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14678"/>
            <a:ext cx="2103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AMCs have limited visibility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into demographics, geographic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factors influencing SIP amounts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and redemption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097280"/>
            <a:ext cx="2377440" cy="5303520"/>
          </a:xfrm>
          <a:prstGeom prst="rect">
            <a:avLst/>
          </a:prstGeom>
          <a:solidFill>
            <a:srgbClr val="F8F9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978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A3E0"/>
                </a:solidFill>
                <a:latin typeface="Calibri"/>
              </a:rP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4379" y="1247218"/>
            <a:ext cx="1600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3087"/>
                </a:solidFill>
                <a:latin typeface="Calibri"/>
              </a:rPr>
              <a:t>Slow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814678"/>
            <a:ext cx="2103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Monthly MF reports are static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PDFs taking days to prepare.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Stakeholders need live, self-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service drill-down</a:t>
            </a:r>
            <a:r>
              <a:rPr lang="en-US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728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3402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8 core objectives driving the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Bluestock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MF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52704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1615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Build ETL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1" y="1582988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Automated Python script ingesting AMFI CSVs + mfapi.in live NAV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7" y="152704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1615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dirty="0">
                <a:solidFill>
                  <a:srgbClr val="003087"/>
                </a:solidFill>
                <a:latin typeface="Calibri"/>
              </a:rPr>
              <a:t>Design SQL Star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6487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5-table normalized SQLite schema: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dim_fund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fact_nav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,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fact_transactions</a:t>
            </a:r>
            <a:endParaRPr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285292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4203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Comprehensive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45579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15+ publication-quality charts on NAV, AUM, SIP and investor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46888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285292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54203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Risk &amp; Performance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19927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Sharpe,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Sortino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, Alpha, Beta,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VaR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, Max Drawdown for all 40 funds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417880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6791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Interactive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" y="4254326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4-page Power BI dashboard with slicers, drill-through and KPI cards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79476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7" y="417880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86791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Investor Demographics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192815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Age, gender, geographic and cohort analysis of 32K+ transactions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512064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550468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19379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Benchmark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85541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Fund returns vs Nifty 50 / Nifty 100 — tracking error and alpha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20640"/>
            <a:ext cx="5669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5120640"/>
            <a:ext cx="64008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7" y="5504688"/>
            <a:ext cx="6035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700"/>
                </a:solidFill>
                <a:latin typeface="Calibri"/>
              </a:rPr>
              <a:t>O8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93792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3087"/>
                </a:solidFill>
                <a:latin typeface="Calibri"/>
              </a:rPr>
              <a:t>Report +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591070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15-page PDF report and 12-slide deck with all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879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Data Sources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2742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10 real-world datasets from AMFI India, mfapi.in and NSE/BSE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4480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dirty="0">
                <a:solidFill>
                  <a:srgbClr val="FFFFFF"/>
                </a:solidFill>
                <a:latin typeface="Calibri"/>
              </a:rPr>
              <a:t>Dataset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115568"/>
            <a:ext cx="10058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15568"/>
            <a:ext cx="5852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612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01_fund_master.csv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58191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1454805"/>
            <a:ext cx="58521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40 real AMFI schemes — fund house, category, expense ratio, risk 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29967"/>
            <a:ext cx="11612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0312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02_nav_history.csv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10312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46,000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1976550"/>
            <a:ext cx="594360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Daily NAV Jan 2022 to May 2026 — anchored to real mfapi.in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51176"/>
            <a:ext cx="11612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62432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03_aum_by_fund_house.csv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262432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00897B"/>
                </a:solidFill>
                <a:latin typeface="Calibri"/>
              </a:rPr>
              <a:t>90</a:t>
            </a:r>
            <a:endParaRPr b="0" i="0" dirty="0">
              <a:solidFill>
                <a:srgbClr val="00897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2848" y="2610182"/>
            <a:ext cx="619804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Quarterly AUM (₹ crore) for top 10 AMCs — SBI leads at ₹12.5L 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72384"/>
            <a:ext cx="11612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145536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04_monthly_sip_inflows.csv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14553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0739" y="3037059"/>
            <a:ext cx="580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Real AMFI Monthly Note — SIP inflows, accounts Jan 2022 to Dec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93591"/>
            <a:ext cx="11612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666744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05_category_inflows.csv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36667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9" y="3546073"/>
            <a:ext cx="580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Net inflows by fund category for FY 2024-25 (Large/Mid/Small Cap etc.)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14800"/>
            <a:ext cx="11612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18795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07_scheme_performance.csv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18795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599" y="4088835"/>
            <a:ext cx="580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CAGR, Sharpe, </a:t>
            </a:r>
            <a:r>
              <a:rPr sz="1700" b="0" i="0" dirty="0" err="1">
                <a:solidFill>
                  <a:srgbClr val="2D2D2D"/>
                </a:solidFill>
                <a:latin typeface="Calibri"/>
              </a:rPr>
              <a:t>Sortino</a:t>
            </a:r>
            <a:r>
              <a:rPr sz="1700" b="0" i="0" dirty="0">
                <a:solidFill>
                  <a:srgbClr val="2D2D2D"/>
                </a:solidFill>
                <a:latin typeface="Calibri"/>
              </a:rPr>
              <a:t>, Alpha, Beta, Max Drawdown for all 40 schemes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36008"/>
            <a:ext cx="11612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7091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08_investor_transactions.csv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470916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32,778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6459" y="4599707"/>
            <a:ext cx="607082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SIP + Lumpsum + Redemption for 5,000 investors across 12 Indian states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82" y="5215536"/>
            <a:ext cx="11612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23036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09_portfolio_holdings.csv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523036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320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8690" y="5162262"/>
            <a:ext cx="580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Top equity holdings per fund — stock, sector, weight % as of Dec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78423"/>
            <a:ext cx="11612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5751575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10_benchmark_indices.csv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5751575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897B"/>
                </a:solidFill>
                <a:latin typeface="Calibri"/>
              </a:rPr>
              <a:t>8,050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598" y="5751575"/>
            <a:ext cx="627954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D2D2D"/>
                </a:solidFill>
                <a:latin typeface="Calibri"/>
              </a:rPr>
              <a:t>Daily close for Nifty 50, Nifty 100, Nifty Midcap 150, BSE SmallCap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 — 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650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Extract → Transform → Load →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Analyse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→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Visualise</a:t>
            </a:r>
            <a:endParaRPr b="0" i="0" dirty="0">
              <a:solidFill>
                <a:srgbClr val="00A3E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371600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53312"/>
            <a:ext cx="1280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i="0" dirty="0">
                <a:solidFill>
                  <a:srgbClr val="FFFFFF"/>
                </a:solidFill>
                <a:latin typeface="Calibri"/>
              </a:rPr>
              <a:t>📥 EXTRACT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188720"/>
            <a:ext cx="10241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AMFI CSVs  |  mfapi.in REST API  |  NSE/BSE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Bhavcopy</a:t>
            </a:r>
            <a:endParaRPr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087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137160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" y="2410835"/>
            <a:ext cx="1508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⚙ TRANSFORM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194560"/>
            <a:ext cx="10241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37744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Pandas cleaning  |  Date parsing  |  Forward-fill NAV  |  AMFI code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992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97B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371600" cy="7772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364992"/>
            <a:ext cx="1280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💾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200400"/>
            <a:ext cx="10241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SQLite via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SQLAlchemy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  |  5-table star schema  |  46K NAV rows loaded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0050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1371600" cy="7772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370832"/>
            <a:ext cx="1280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🔬 ANALYSE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206240"/>
            <a:ext cx="10241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438912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2D2D2D"/>
                </a:solidFill>
                <a:latin typeface="Calibri"/>
              </a:rPr>
              <a:t>Jupyter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 Notebooks  |  Sharpe/Alpha/Beta  |  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VaR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  |  Cohort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109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148C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" y="5233946"/>
            <a:ext cx="1371600" cy="777240"/>
          </a:xfrm>
          <a:prstGeom prst="rect">
            <a:avLst/>
          </a:prstGeom>
          <a:solidFill>
            <a:srgbClr val="7B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" y="5384623"/>
            <a:ext cx="1508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📊 VISUALISE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5212080"/>
            <a:ext cx="10241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0" y="539496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Power BI 4-page Dashboard  |  Slicers  |  Drill-through  |  KPI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EDA Highlights — NAV &amp; AUM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447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A3E0"/>
                </a:solidFill>
                <a:latin typeface="Calibri"/>
              </a:rPr>
              <a:t>F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indings: 46,000 NAV records and quarterly AUM data across 10 AMCs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NAV Trend — Top 10 Funds (2022–2026)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76072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03087"/>
                </a:solidFill>
                <a:latin typeface="Calibri"/>
              </a:rPr>
              <a:t>AUM Growth by Fund House (2022–2025)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029200"/>
            <a:ext cx="2834640" cy="1508760"/>
          </a:xfrm>
          <a:prstGeom prst="rect">
            <a:avLst/>
          </a:prstGeom>
          <a:solidFill>
            <a:srgbClr val="003087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📈 2023 Bull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487587"/>
            <a:ext cx="3191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Equity funds grew 25-30% NAV
during 2023 rally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5029200"/>
            <a:ext cx="2834640" cy="1508760"/>
          </a:xfrm>
          <a:prstGeom prst="rect">
            <a:avLst/>
          </a:prstGeom>
          <a:solidFill>
            <a:srgbClr val="003087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🏦 SBI Dominance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530922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SBI MF leads with ₹12.5L Cr
AUM as of Dec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029200"/>
            <a:ext cx="2834640" cy="1508760"/>
          </a:xfrm>
          <a:prstGeom prst="rect">
            <a:avLst/>
          </a:prstGeom>
          <a:solidFill>
            <a:srgbClr val="003087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📉 2024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534898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Mid-2024 saw -10% correction
across Large Cap funds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5029200"/>
            <a:ext cx="2834640" cy="1508760"/>
          </a:xfrm>
          <a:prstGeom prst="rect">
            <a:avLst/>
          </a:prstGeom>
          <a:solidFill>
            <a:srgbClr val="003087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💰 Industry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5534898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Indian MF industry crossed
₹81 Lakh Crore AUM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F2251C-B222-400D-BC1E-3B0821D36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5" y="1435608"/>
            <a:ext cx="5212080" cy="33986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641A50B-6832-4441-9A02-5A3A5FC99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199"/>
            <a:ext cx="5620515" cy="2703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EDA Highlights — 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SIP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&amp; Investor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650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A3E0"/>
                </a:solidFill>
                <a:latin typeface="Calibri"/>
              </a:rPr>
              <a:t>F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indings: </a:t>
            </a:r>
            <a:r>
              <a:rPr lang="en-US" dirty="0">
                <a:solidFill>
                  <a:srgbClr val="00A3E0"/>
                </a:solidFill>
                <a:latin typeface="Calibri"/>
              </a:rPr>
              <a:t>Category Heatmap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and investor demographic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625" y="1340775"/>
            <a:ext cx="5184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solidFill>
                <a:srgbClr val="003087"/>
              </a:solidFill>
              <a:latin typeface="Calibri"/>
            </a:endParaRPr>
          </a:p>
          <a:p>
            <a:pPr algn="ctr"/>
            <a:endParaRPr b="1" i="0" dirty="0">
              <a:solidFill>
                <a:srgbClr val="003087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230711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Investor Demographics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29200"/>
            <a:ext cx="2834640" cy="1508760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074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D700"/>
                </a:solidFill>
                <a:latin typeface="Calibri"/>
              </a:rPr>
              <a:t>₹31,002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62356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SIP All-Time High
December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5029200"/>
            <a:ext cx="2834640" cy="1508760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5074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alibri"/>
              </a:rPr>
              <a:t>26.12 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562356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Total MF Folios
December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29200"/>
            <a:ext cx="2834640" cy="1508760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5074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alibri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562356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26-35 Age Group
Dominates SIPs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5029200"/>
            <a:ext cx="2834640" cy="1508760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5074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alibri"/>
              </a:rPr>
              <a:t>9.35 Crore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562356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Active SIP
Accounts Dec 2025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B61EEB-CE0B-489E-BBFB-27E593C16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60220"/>
            <a:ext cx="5397525" cy="2194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B92B6-5DEC-4621-B4B9-263758E4C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70" y="1340774"/>
            <a:ext cx="5488409" cy="35282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D551F1-CC43-484D-A8F5-9E2A1AB95049}"/>
              </a:ext>
            </a:extLst>
          </p:cNvPr>
          <p:cNvSpPr txBox="1"/>
          <p:nvPr/>
        </p:nvSpPr>
        <p:spPr>
          <a:xfrm>
            <a:off x="0" y="112219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003087"/>
                </a:solidFill>
                <a:latin typeface="Calibri"/>
              </a:rPr>
              <a:t>Monthly SIP Inflows (Jan 2022 – Dec 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Fund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643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Sharpe Ratio, CAGR, Fund Scorecard computed for all 40 schemes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Top 15 Funds by Sharpe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Fund Scorecard — Composite Score (0-100)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29200"/>
            <a:ext cx="2834640" cy="1508760"/>
          </a:xfrm>
          <a:prstGeom prst="rect">
            <a:avLst/>
          </a:prstGeom>
          <a:solidFill>
            <a:srgbClr val="1A237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A3E0"/>
                </a:solidFill>
                <a:latin typeface="Calibri"/>
              </a:rPr>
              <a:t>Scorecard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444252"/>
            <a:ext cx="3402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30% 3yr Return + 25% Sharpe
+ 20% Alpha + 15% Expense
+ 10% Max Drawdown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5029200"/>
            <a:ext cx="2834640" cy="1508760"/>
          </a:xfrm>
          <a:prstGeom prst="rect">
            <a:avLst/>
          </a:prstGeom>
          <a:solidFill>
            <a:srgbClr val="1A237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A3E0"/>
                </a:solidFill>
                <a:latin typeface="Calibri"/>
              </a:rPr>
              <a:t>Risk-Free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5440680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Rf = 6.5% (RBI repo rate)
used for Sharpe &amp;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Sortino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
calculations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29200"/>
            <a:ext cx="2834640" cy="1508760"/>
          </a:xfrm>
          <a:prstGeom prst="rect">
            <a:avLst/>
          </a:prstGeom>
          <a:solidFill>
            <a:srgbClr val="1A237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A3E0"/>
                </a:solidFill>
                <a:latin typeface="Calibri"/>
              </a:rPr>
              <a:t>Trading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5440680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252 trading days used
for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annualisation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of
all risk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5029200"/>
            <a:ext cx="2834640" cy="1508760"/>
          </a:xfrm>
          <a:prstGeom prst="rect">
            <a:avLst/>
          </a:prstGeom>
          <a:solidFill>
            <a:srgbClr val="1A237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50749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A3E0"/>
                </a:solidFill>
                <a:latin typeface="Calibri"/>
              </a:rPr>
              <a:t>Funds </a:t>
            </a:r>
            <a:r>
              <a:rPr b="1" i="0" dirty="0" err="1">
                <a:solidFill>
                  <a:srgbClr val="00A3E0"/>
                </a:solidFill>
                <a:latin typeface="Calibri"/>
              </a:rPr>
              <a:t>Analysed</a:t>
            </a:r>
            <a:endParaRPr b="1" i="0" dirty="0">
              <a:solidFill>
                <a:srgbClr val="00A3E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99448" y="5440680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All 40 AMFI schemes
across Large, Mid,
Small &amp; Debt categories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EDAC75C-2598-46C8-9544-1D8EF35C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37" y="1661198"/>
            <a:ext cx="5499605" cy="27126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568AA8A-026C-4F1F-8E20-9D7FF951B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34" y="1523484"/>
            <a:ext cx="4989443" cy="33019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Risk Metrics — VaR &amp;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9078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Historical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VaR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95%,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CVaR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and fund returns vs Nifty 50 / Nifty 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Historical </a:t>
            </a:r>
            <a:r>
              <a:rPr b="1" i="0" dirty="0" err="1">
                <a:solidFill>
                  <a:srgbClr val="003087"/>
                </a:solidFill>
                <a:latin typeface="Calibri"/>
              </a:rPr>
              <a:t>VaR</a:t>
            </a:r>
            <a:r>
              <a:rPr b="1" i="0" dirty="0">
                <a:solidFill>
                  <a:srgbClr val="003087"/>
                </a:solidFill>
                <a:latin typeface="Calibri"/>
              </a:rPr>
              <a:t> 95% — Most Risky Funds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76072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003087"/>
                </a:solidFill>
                <a:latin typeface="Calibri"/>
              </a:rPr>
              <a:t>Top 5 Funds vs Benchmark (Normalized to 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029200"/>
            <a:ext cx="2834640" cy="1508760"/>
          </a:xfrm>
          <a:prstGeom prst="rect">
            <a:avLst/>
          </a:prstGeom>
          <a:solidFill>
            <a:srgbClr val="7B1F00"/>
          </a:solidFill>
          <a:ln w="635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5154045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⚠️ Small Cap </a:t>
            </a:r>
            <a:r>
              <a:rPr b="1" i="0" dirty="0" err="1">
                <a:solidFill>
                  <a:srgbClr val="FFD700"/>
                </a:solidFill>
                <a:latin typeface="Calibri"/>
              </a:rPr>
              <a:t>VaR</a:t>
            </a:r>
            <a:endParaRPr b="1" i="0" dirty="0">
              <a:solidFill>
                <a:srgbClr val="FFD70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" y="5532120"/>
            <a:ext cx="2898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Daily loss can exceed -2.5%
to -3.2% on worst 5%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5029200"/>
            <a:ext cx="2834640" cy="1508760"/>
          </a:xfrm>
          <a:prstGeom prst="rect">
            <a:avLst/>
          </a:prstGeom>
          <a:solidFill>
            <a:srgbClr val="7B1F00"/>
          </a:solidFill>
          <a:ln w="635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5140096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📊 Alpha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5469696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Top 5 funds outperformed
Nifty 100 by avg 3.2% alpha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29200"/>
            <a:ext cx="2834640" cy="1508760"/>
          </a:xfrm>
          <a:prstGeom prst="rect">
            <a:avLst/>
          </a:prstGeom>
          <a:solidFill>
            <a:srgbClr val="7B1F00"/>
          </a:solidFill>
          <a:ln w="635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5162788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📉 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228" y="5509428"/>
            <a:ext cx="2724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HDFC Top 100 worst drawdown</a:t>
            </a:r>
            <a:r>
              <a:rPr lang="en-US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was -33.5% peak to trough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5029200"/>
            <a:ext cx="2834640" cy="1508760"/>
          </a:xfrm>
          <a:prstGeom prst="rect">
            <a:avLst/>
          </a:prstGeom>
          <a:solidFill>
            <a:srgbClr val="7B1F00"/>
          </a:solidFill>
          <a:ln w="635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0868" y="5140096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D700"/>
                </a:solidFill>
                <a:latin typeface="Calibri"/>
              </a:rPr>
              <a:t>🔗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5492724"/>
            <a:ext cx="2793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Large Cap funds correlate
0.85+ — limited</a:t>
            </a:r>
            <a:r>
              <a:rPr lang="en-US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diversification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93520AB-B3D1-4E14-83C2-4E7CDE094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66" y="1757951"/>
            <a:ext cx="5481148" cy="27020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75FD90-1BB2-412B-93D6-9BA0E844F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05648"/>
            <a:ext cx="5678900" cy="2806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728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Interactive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1424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4-page dashboard with slicers, drill-through, KPI cards and tooltips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131471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Page 1: Industry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168965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D2D2D"/>
                </a:solidFill>
                <a:latin typeface="Calibri"/>
              </a:rPr>
              <a:t>KPI cards: Total AUM, SIP Inflows,
Folios, Schemes
Line chart: AUM trend </a:t>
            </a:r>
            <a:r>
              <a:rPr lang="en-IN" sz="1500" b="0" i="0" dirty="0">
                <a:solidFill>
                  <a:srgbClr val="2D2D2D"/>
                </a:solidFill>
                <a:latin typeface="Calibri"/>
              </a:rPr>
              <a:t>2022-2025</a:t>
            </a:r>
            <a:r>
              <a:rPr sz="1500" b="0" i="0" dirty="0">
                <a:solidFill>
                  <a:srgbClr val="2D2D2D"/>
                </a:solidFill>
                <a:latin typeface="Calibri"/>
              </a:rPr>
              <a:t>
Bar chart: AUM by AMC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386" y="1122327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Page 2: Fund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598" y="1600200"/>
            <a:ext cx="200959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D2D2D"/>
                </a:solidFill>
                <a:latin typeface="Calibri"/>
              </a:rPr>
              <a:t>Scatter: Return vs Risk (bubble=AUM)
Sortable fund scorecard table
NAV line vs benchmark
Slicers: fund house,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56692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3852015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Page 3: Investor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53791"/>
            <a:ext cx="24356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D2D2D"/>
                </a:solidFill>
                <a:latin typeface="Calibri"/>
              </a:rPr>
              <a:t>Bar chart: Transaction by state
Donut: SIP/Lumpsum/Redemption
Bar: Age group vs avg SIP
Slicers: state, age, city tier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669280" cy="4114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386" y="3852015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Page 4: SIP &amp; Market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43400"/>
            <a:ext cx="16710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D2D2D"/>
                </a:solidFill>
                <a:latin typeface="Calibri"/>
              </a:rPr>
              <a:t>Dual-axis: SIP inflow + Nifty 50
Category inflow heatmap
Top 5 categories by net inflow
KPI: SIP accounts growth YoY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C5321F-5FE7-4984-AB55-AC651643B4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42" t="21821" r="24492" b="-125"/>
          <a:stretch/>
        </p:blipFill>
        <p:spPr>
          <a:xfrm rot="5400000">
            <a:off x="3010355" y="941427"/>
            <a:ext cx="1933574" cy="32033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B3C6984-8760-4EE2-9635-CD6AFE67F0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67" t="8864" r="2969"/>
          <a:stretch/>
        </p:blipFill>
        <p:spPr>
          <a:xfrm rot="5400000">
            <a:off x="9161947" y="967217"/>
            <a:ext cx="2021502" cy="315468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A712A11-BF66-4760-8F92-13B277BC23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73" t="15873" r="13788" b="2171"/>
          <a:stretch/>
        </p:blipFill>
        <p:spPr>
          <a:xfrm rot="5400000">
            <a:off x="8965433" y="3395844"/>
            <a:ext cx="1899915" cy="37239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3B7DC0-BB94-46CE-8C60-F1AAE21E81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000" t="2643" r="10909" b="999"/>
          <a:stretch/>
        </p:blipFill>
        <p:spPr>
          <a:xfrm rot="5400000">
            <a:off x="3261964" y="3679507"/>
            <a:ext cx="1880580" cy="3208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145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00A3E0"/>
                </a:solidFill>
                <a:latin typeface="Calibri"/>
              </a:rPr>
              <a:t>6 data-driven insights from the Mutual Fund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6916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2070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SBI MF Market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595949"/>
            <a:ext cx="5010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SBI Mutual Fund manages Rs.12.5 Lakh Crore AUM — largest AMC in India by a significant margin over ICICI (Rs.10.7L Cr) and HDFC (Rs.9.3L Cr).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7" y="16916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2070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SIP Revolution in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270" y="1620150"/>
            <a:ext cx="50382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Monthly SIP inflows doubled from ~Rs.13,000 Cr in Jan 2022 to Rs.31,002 Cr in Dec 2025 — reflecting India's deepening equity investment culture.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35204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0358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Small Cap Outperformance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456432"/>
            <a:ext cx="4846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Small Cap funds delivered highest 3yr CAGR of 20-23% but carry 2.5x more risk (</a:t>
            </a:r>
            <a:r>
              <a:rPr b="0" i="0" dirty="0" err="1">
                <a:solidFill>
                  <a:srgbClr val="2D2D2D"/>
                </a:solidFill>
                <a:latin typeface="Calibri"/>
              </a:rPr>
              <a:t>VaR</a:t>
            </a:r>
            <a:r>
              <a:rPr b="0" i="0" dirty="0">
                <a:solidFill>
                  <a:srgbClr val="2D2D2D"/>
                </a:solidFill>
                <a:latin typeface="Calibri"/>
              </a:rPr>
              <a:t>) than Large Cap funds — risk-reward tradeoff is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5204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0358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Young India Investing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388482"/>
            <a:ext cx="4709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Investors aged 26-35 contribute 42% of all SIP investments — young working professionals are the primary growth engine for mutual funds.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7548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53492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T30 vs B30 City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285232"/>
            <a:ext cx="4846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While T30 cities account for 56% of transactions, B30 cities are growing 2.5x faster — mutual fund penetration in smaller cities is accelerating.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54880"/>
            <a:ext cx="566928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754880"/>
            <a:ext cx="548640" cy="16459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7" y="5349240"/>
            <a:ext cx="512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D700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48646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3087"/>
                </a:solidFill>
                <a:latin typeface="Calibri"/>
              </a:rPr>
              <a:t>Strong SIP Discipline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270" y="5223718"/>
            <a:ext cx="4846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2D2D2D"/>
                </a:solidFill>
                <a:latin typeface="Calibri"/>
              </a:rPr>
              <a:t>75-80% SIP continuity rate among investors with 6+ transactions — Indian investors are showing strong long-term investment discipline.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331720"/>
            <a:ext cx="48737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Ruksana Begum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63240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00A3E0"/>
                </a:solidFill>
                <a:latin typeface="Calibri"/>
              </a:rPr>
              <a:t>Data Analyst Intern  |  </a:t>
            </a:r>
            <a:r>
              <a:rPr b="0" i="0" dirty="0" err="1">
                <a:solidFill>
                  <a:srgbClr val="00A3E0"/>
                </a:solidFill>
                <a:latin typeface="Calibri"/>
              </a:rPr>
              <a:t>Bluestock</a:t>
            </a:r>
            <a:r>
              <a:rPr b="0" i="0" dirty="0">
                <a:solidFill>
                  <a:srgbClr val="00A3E0"/>
                </a:solidFill>
                <a:latin typeface="Calibri"/>
              </a:rPr>
              <a:t> Fintech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576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📧  ruksanabegum1708@gmail.com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🔗  github.com/Ruksanabegum1708/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bluestock_mf_capstone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475488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📅  June 2026  |  7-Day Capstone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 err="1">
                <a:solidFill>
                  <a:srgbClr val="FFFFFF"/>
                </a:solidFill>
                <a:latin typeface="Calibri"/>
              </a:rPr>
              <a:t>Plotly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7532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5394960"/>
            <a:ext cx="1280160" cy="411480"/>
          </a:xfrm>
          <a:prstGeom prst="rect">
            <a:avLst/>
          </a:prstGeom>
          <a:solidFill>
            <a:srgbClr val="00184E"/>
          </a:solidFill>
          <a:ln w="63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5440680"/>
            <a:ext cx="128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13716" y="6625828"/>
            <a:ext cx="12188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003087"/>
                </a:solidFill>
                <a:latin typeface="Calibri"/>
              </a:rPr>
              <a:t>Bluestock</a:t>
            </a:r>
            <a:r>
              <a:rPr sz="1200" b="0" i="0" dirty="0">
                <a:solidFill>
                  <a:srgbClr val="003087"/>
                </a:solidFill>
                <a:latin typeface="Calibri"/>
              </a:rPr>
              <a:t> Fintech Pvt. Ltd.  |  Mutual Fund Analytics Platform  |  Capstone 2026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F502675-F8C7-42FB-B8D2-8417002F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2" y="404037"/>
            <a:ext cx="4027175" cy="513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1434</Words>
  <Application>Microsoft Office PowerPoint</Application>
  <PresentationFormat>Custom</PresentationFormat>
  <Paragraphs>198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HOME</dc:creator>
  <cp:keywords/>
  <dc:description>generated using python-pptx</dc:description>
  <cp:lastModifiedBy>HOME</cp:lastModifiedBy>
  <cp:revision>13</cp:revision>
  <dcterms:created xsi:type="dcterms:W3CDTF">2013-01-27T09:14:16Z</dcterms:created>
  <dcterms:modified xsi:type="dcterms:W3CDTF">2026-06-14T05:08:49Z</dcterms:modified>
  <cp:category/>
</cp:coreProperties>
</file>